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58" r:id="rId4"/>
    <p:sldId id="260" r:id="rId5"/>
    <p:sldId id="261" r:id="rId6"/>
    <p:sldId id="262" r:id="rId7"/>
    <p:sldId id="263"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0F7B7EEF-F80E-4A33-8F2C-0930DD1F0C25}"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1759953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F7B7EEF-F80E-4A33-8F2C-0930DD1F0C25}"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3572611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F7B7EEF-F80E-4A33-8F2C-0930DD1F0C25}"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3349519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0F7B7EEF-F80E-4A33-8F2C-0930DD1F0C25}" type="datetimeFigureOut">
              <a:rPr lang="en-GB" smtClean="0"/>
              <a:t>17/09/2025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3252869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0F7B7EEF-F80E-4A33-8F2C-0930DD1F0C25}" type="datetimeFigureOut">
              <a:rPr lang="en-GB" smtClean="0"/>
              <a:t>17/09/2025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2647211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0F7B7EEF-F80E-4A33-8F2C-0930DD1F0C25}" type="datetimeFigureOut">
              <a:rPr lang="en-GB" smtClean="0"/>
              <a:t>17/09/2025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2410987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7B7EEF-F80E-4A33-8F2C-0930DD1F0C25}" type="datetimeFigureOut">
              <a:rPr lang="en-GB" smtClean="0"/>
              <a:t>17/09/2025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1409607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F7B7EEF-F80E-4A33-8F2C-0930DD1F0C25}" type="datetimeFigureOut">
              <a:rPr lang="en-GB" smtClean="0"/>
              <a:t>17/09/2025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315294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F7B7EEF-F80E-4A33-8F2C-0930DD1F0C25}" type="datetimeFigureOut">
              <a:rPr lang="en-GB" smtClean="0"/>
              <a:t>17/09/2025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1421522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F7B7EEF-F80E-4A33-8F2C-0930DD1F0C25}"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3513967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F7B7EEF-F80E-4A33-8F2C-0930DD1F0C25}" type="datetimeFigureOut">
              <a:rPr lang="en-GB" smtClean="0"/>
              <a:t>17/09/2025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936EFD-21D6-45B7-B5B2-B220C33DD713}" type="slidenum">
              <a:rPr lang="en-GB" smtClean="0"/>
              <a:t>‹#›</a:t>
            </a:fld>
            <a:endParaRPr lang="en-GB"/>
          </a:p>
        </p:txBody>
      </p:sp>
    </p:spTree>
    <p:extLst>
      <p:ext uri="{BB962C8B-B14F-4D97-AF65-F5344CB8AC3E}">
        <p14:creationId xmlns:p14="http://schemas.microsoft.com/office/powerpoint/2010/main" val="3984206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7B7EEF-F80E-4A33-8F2C-0930DD1F0C25}" type="datetimeFigureOut">
              <a:rPr lang="en-GB" smtClean="0"/>
              <a:t>17/09/2025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36EFD-21D6-45B7-B5B2-B220C33DD713}" type="slidenum">
              <a:rPr lang="en-GB" smtClean="0"/>
              <a:t>‹#›</a:t>
            </a:fld>
            <a:endParaRPr lang="en-GB"/>
          </a:p>
        </p:txBody>
      </p:sp>
    </p:spTree>
    <p:extLst>
      <p:ext uri="{BB962C8B-B14F-4D97-AF65-F5344CB8AC3E}">
        <p14:creationId xmlns:p14="http://schemas.microsoft.com/office/powerpoint/2010/main" val="2172019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0066" y="1103703"/>
            <a:ext cx="9144000" cy="2387600"/>
          </a:xfrm>
        </p:spPr>
        <p:txBody>
          <a:bodyPr>
            <a:normAutofit/>
          </a:bodyPr>
          <a:lstStyle/>
          <a:p>
            <a:r>
              <a:rPr sz="3600" b="1" dirty="0"/>
              <a:t>Exchange Rate Data Pipeline</a:t>
            </a:r>
          </a:p>
        </p:txBody>
      </p:sp>
      <p:sp>
        <p:nvSpPr>
          <p:cNvPr id="3" name="Subtitle 2"/>
          <p:cNvSpPr>
            <a:spLocks noGrp="1"/>
          </p:cNvSpPr>
          <p:nvPr>
            <p:ph type="subTitle" idx="1"/>
          </p:nvPr>
        </p:nvSpPr>
        <p:spPr>
          <a:xfrm>
            <a:off x="1524000" y="4590660"/>
            <a:ext cx="9144000" cy="667139"/>
          </a:xfrm>
        </p:spPr>
        <p:txBody>
          <a:bodyPr/>
          <a:lstStyle/>
          <a:p>
            <a:r>
              <a:rPr lang="en-US" sz="2000" b="0" dirty="0" smtClean="0"/>
              <a:t>Sudip Bandopadhyay</a:t>
            </a:r>
            <a:endParaRPr lang="en-GB" dirty="0"/>
          </a:p>
        </p:txBody>
      </p:sp>
    </p:spTree>
    <p:extLst>
      <p:ext uri="{BB962C8B-B14F-4D97-AF65-F5344CB8AC3E}">
        <p14:creationId xmlns:p14="http://schemas.microsoft.com/office/powerpoint/2010/main" val="725529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200" b="1" dirty="0"/>
              <a:t>High Level Design Approach</a:t>
            </a:r>
            <a:endParaRPr lang="en-GB" sz="3200" dirty="0"/>
          </a:p>
        </p:txBody>
      </p:sp>
      <p:sp>
        <p:nvSpPr>
          <p:cNvPr id="3" name="Content Placeholder 2"/>
          <p:cNvSpPr>
            <a:spLocks noGrp="1"/>
          </p:cNvSpPr>
          <p:nvPr>
            <p:ph idx="1"/>
          </p:nvPr>
        </p:nvSpPr>
        <p:spPr>
          <a:xfrm>
            <a:off x="838200" y="1690688"/>
            <a:ext cx="10515600" cy="4486275"/>
          </a:xfrm>
        </p:spPr>
        <p:txBody>
          <a:bodyPr>
            <a:normAutofit/>
          </a:bodyPr>
          <a:lstStyle/>
          <a:p>
            <a:r>
              <a:rPr lang="en-GB" sz="2000" dirty="0"/>
              <a:t>Call both </a:t>
            </a:r>
            <a:r>
              <a:rPr lang="en-GB" sz="2000" dirty="0" err="1" smtClean="0"/>
              <a:t>ExchangeRate</a:t>
            </a:r>
            <a:r>
              <a:rPr lang="en-GB" sz="2000" dirty="0" smtClean="0"/>
              <a:t> public API and ECB API </a:t>
            </a:r>
            <a:r>
              <a:rPr lang="en-GB" sz="2000" dirty="0"/>
              <a:t>to get the latest </a:t>
            </a:r>
            <a:r>
              <a:rPr lang="en-GB" sz="2000" dirty="0" smtClean="0"/>
              <a:t>data</a:t>
            </a:r>
          </a:p>
          <a:p>
            <a:r>
              <a:rPr lang="en-US" sz="2000" dirty="0" smtClean="0"/>
              <a:t>Both the API returns data considering ‘EUR’ as base currency</a:t>
            </a:r>
            <a:endParaRPr lang="en-GB" sz="2000" dirty="0"/>
          </a:p>
          <a:p>
            <a:r>
              <a:rPr lang="en-US" sz="2000" dirty="0" smtClean="0"/>
              <a:t>Marge data from both sources</a:t>
            </a:r>
          </a:p>
          <a:p>
            <a:r>
              <a:rPr lang="en-US" sz="2000" dirty="0" smtClean="0"/>
              <a:t>Load the raw data into the landing table in </a:t>
            </a:r>
            <a:r>
              <a:rPr lang="en-US" sz="2000" dirty="0" err="1" smtClean="0"/>
              <a:t>Bigquery</a:t>
            </a:r>
            <a:endParaRPr lang="en-US" sz="2000" dirty="0" smtClean="0"/>
          </a:p>
          <a:p>
            <a:r>
              <a:rPr lang="en-US" sz="2000" dirty="0" smtClean="0"/>
              <a:t>Merge the data into the final table</a:t>
            </a:r>
          </a:p>
          <a:p>
            <a:r>
              <a:rPr lang="en-US" sz="2000" dirty="0" smtClean="0"/>
              <a:t>Containerize and deploy the pipeline as Google Cloud Run Function</a:t>
            </a:r>
          </a:p>
          <a:p>
            <a:r>
              <a:rPr lang="en-US" sz="2000" dirty="0" smtClean="0"/>
              <a:t>Ensure proper logging and alerting</a:t>
            </a:r>
          </a:p>
          <a:p>
            <a:r>
              <a:rPr lang="en-US" sz="2000" dirty="0" smtClean="0"/>
              <a:t>Ensure proper schema and portioning and clustering enabled</a:t>
            </a:r>
          </a:p>
          <a:p>
            <a:r>
              <a:rPr lang="en-US" sz="2000" dirty="0" smtClean="0"/>
              <a:t>Ensure automated Data retention</a:t>
            </a:r>
          </a:p>
          <a:p>
            <a:r>
              <a:rPr lang="en-US" sz="2000" dirty="0" smtClean="0"/>
              <a:t>Sample business case scenarios of the data</a:t>
            </a:r>
            <a:endParaRPr lang="en-GB" sz="2000" dirty="0"/>
          </a:p>
        </p:txBody>
      </p:sp>
    </p:spTree>
    <p:extLst>
      <p:ext uri="{BB962C8B-B14F-4D97-AF65-F5344CB8AC3E}">
        <p14:creationId xmlns:p14="http://schemas.microsoft.com/office/powerpoint/2010/main" val="611553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200" b="1" dirty="0" smtClean="0"/>
              <a:t>Data Model and Transformation</a:t>
            </a:r>
            <a:endParaRPr lang="en-GB" sz="3200" dirty="0"/>
          </a:p>
        </p:txBody>
      </p:sp>
      <p:sp>
        <p:nvSpPr>
          <p:cNvPr id="3" name="Content Placeholder 2"/>
          <p:cNvSpPr>
            <a:spLocks noGrp="1"/>
          </p:cNvSpPr>
          <p:nvPr>
            <p:ph idx="1"/>
          </p:nvPr>
        </p:nvSpPr>
        <p:spPr>
          <a:xfrm>
            <a:off x="838200" y="1690688"/>
            <a:ext cx="10515600" cy="4486275"/>
          </a:xfrm>
        </p:spPr>
        <p:txBody>
          <a:bodyPr>
            <a:normAutofit lnSpcReduction="10000"/>
          </a:bodyPr>
          <a:lstStyle/>
          <a:p>
            <a:r>
              <a:rPr lang="en-US" sz="2000" dirty="0" smtClean="0"/>
              <a:t>Tables</a:t>
            </a:r>
            <a:r>
              <a:rPr lang="en-US" sz="1800" dirty="0" smtClean="0"/>
              <a:t>(Table structures are provided in the </a:t>
            </a:r>
            <a:r>
              <a:rPr lang="en-US" sz="1800" dirty="0" err="1" smtClean="0"/>
              <a:t>queries.sql</a:t>
            </a:r>
            <a:r>
              <a:rPr lang="en-US" sz="1800" dirty="0" smtClean="0"/>
              <a:t> file)</a:t>
            </a:r>
            <a:r>
              <a:rPr lang="en-US" sz="2000" dirty="0" smtClean="0"/>
              <a:t>:</a:t>
            </a:r>
          </a:p>
          <a:p>
            <a:pPr lvl="1"/>
            <a:r>
              <a:rPr lang="en-US" sz="1800" dirty="0" smtClean="0"/>
              <a:t>Landing Table: </a:t>
            </a:r>
            <a:r>
              <a:rPr lang="en-GB" sz="1800" dirty="0" err="1"/>
              <a:t>lexis_nexis_task.exchange_rates_landing</a:t>
            </a:r>
            <a:endParaRPr lang="en-GB" sz="1800" dirty="0"/>
          </a:p>
          <a:p>
            <a:pPr lvl="1"/>
            <a:r>
              <a:rPr lang="en-US" sz="1800" dirty="0" smtClean="0"/>
              <a:t>Final table: </a:t>
            </a:r>
            <a:r>
              <a:rPr lang="en-GB" sz="1800" dirty="0" err="1" smtClean="0"/>
              <a:t>lexis_nexis_task.exchange_rates</a:t>
            </a:r>
            <a:endParaRPr lang="en-GB" sz="1800" dirty="0" smtClean="0"/>
          </a:p>
          <a:p>
            <a:r>
              <a:rPr lang="en-US" sz="2000" dirty="0"/>
              <a:t>Landing table will have the </a:t>
            </a:r>
            <a:r>
              <a:rPr lang="en-US" sz="2000" dirty="0" smtClean="0"/>
              <a:t>source data directly loaded as received from source, along with </a:t>
            </a:r>
            <a:r>
              <a:rPr lang="en-US" sz="2000" dirty="0" err="1" smtClean="0"/>
              <a:t>raw_payload</a:t>
            </a:r>
            <a:r>
              <a:rPr lang="en-US" sz="2000" dirty="0" smtClean="0"/>
              <a:t> and converted hash value of the same for reference</a:t>
            </a:r>
          </a:p>
          <a:p>
            <a:r>
              <a:rPr lang="en-US" sz="2000" dirty="0" smtClean="0"/>
              <a:t>Both tables are </a:t>
            </a:r>
            <a:r>
              <a:rPr lang="en-US" sz="2000" dirty="0"/>
              <a:t>partitioned by </a:t>
            </a:r>
            <a:r>
              <a:rPr lang="en-GB" sz="2000" dirty="0" err="1" smtClean="0"/>
              <a:t>rate_date</a:t>
            </a:r>
            <a:r>
              <a:rPr lang="en-GB" sz="2000" dirty="0" smtClean="0"/>
              <a:t> and </a:t>
            </a:r>
            <a:r>
              <a:rPr lang="en-GB" sz="2000" dirty="0" err="1" smtClean="0"/>
              <a:t>clustered_by</a:t>
            </a:r>
            <a:r>
              <a:rPr lang="en-GB" sz="2000" dirty="0" smtClean="0"/>
              <a:t> </a:t>
            </a:r>
            <a:r>
              <a:rPr lang="en-GB" sz="2000" dirty="0" err="1"/>
              <a:t>ingest_job_id</a:t>
            </a:r>
            <a:r>
              <a:rPr lang="en-GB" sz="2000" dirty="0" smtClean="0"/>
              <a:t>, </a:t>
            </a:r>
            <a:r>
              <a:rPr lang="en-GB" sz="2000" dirty="0" err="1" smtClean="0"/>
              <a:t>base_currency</a:t>
            </a:r>
            <a:r>
              <a:rPr lang="en-GB" sz="2000" dirty="0"/>
              <a:t>, </a:t>
            </a:r>
            <a:r>
              <a:rPr lang="en-GB" sz="2000" dirty="0" err="1" smtClean="0"/>
              <a:t>quote_currency</a:t>
            </a:r>
            <a:endParaRPr lang="en-GB" sz="2000" dirty="0" smtClean="0"/>
          </a:p>
          <a:p>
            <a:r>
              <a:rPr lang="en-US" sz="2000" dirty="0" smtClean="0"/>
              <a:t>Automated partition expiry set in the table level to delete older data.</a:t>
            </a:r>
          </a:p>
          <a:p>
            <a:r>
              <a:rPr lang="en-US" sz="2000" dirty="0" smtClean="0"/>
              <a:t>Final table will have data from both the source in the same record for better visibility and easy access</a:t>
            </a:r>
          </a:p>
          <a:p>
            <a:r>
              <a:rPr lang="en-US" sz="2000" dirty="0" smtClean="0"/>
              <a:t>Final table will be merged always if new data received for the same day and same currency but a changed rate and that will be tracked by updating the </a:t>
            </a:r>
            <a:r>
              <a:rPr lang="en-US" sz="2000" dirty="0" err="1" smtClean="0"/>
              <a:t>updated_at</a:t>
            </a:r>
            <a:r>
              <a:rPr lang="en-US" sz="2000" dirty="0" smtClean="0"/>
              <a:t> column</a:t>
            </a:r>
          </a:p>
          <a:p>
            <a:r>
              <a:rPr lang="en-US" sz="2000" dirty="0" smtClean="0"/>
              <a:t>Currently target table is designed to hold only the latest value(SDC1). It can be modified to store historical data(SCD2) also if required</a:t>
            </a:r>
            <a:endParaRPr lang="en-GB" sz="2000" dirty="0"/>
          </a:p>
          <a:p>
            <a:endParaRPr lang="en-GB" sz="2000" dirty="0"/>
          </a:p>
          <a:p>
            <a:endParaRPr lang="en-GB" sz="2000" dirty="0"/>
          </a:p>
          <a:p>
            <a:endParaRPr lang="en-GB" sz="2000" dirty="0"/>
          </a:p>
        </p:txBody>
      </p:sp>
    </p:spTree>
    <p:extLst>
      <p:ext uri="{BB962C8B-B14F-4D97-AF65-F5344CB8AC3E}">
        <p14:creationId xmlns:p14="http://schemas.microsoft.com/office/powerpoint/2010/main" val="1714552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200" b="1" dirty="0" smtClean="0"/>
              <a:t>Data Governance and Retention</a:t>
            </a:r>
            <a:endParaRPr lang="en-GB" sz="3200" dirty="0"/>
          </a:p>
        </p:txBody>
      </p:sp>
      <p:sp>
        <p:nvSpPr>
          <p:cNvPr id="3" name="Content Placeholder 2"/>
          <p:cNvSpPr>
            <a:spLocks noGrp="1"/>
          </p:cNvSpPr>
          <p:nvPr>
            <p:ph idx="1"/>
          </p:nvPr>
        </p:nvSpPr>
        <p:spPr>
          <a:xfrm>
            <a:off x="838200" y="1690688"/>
            <a:ext cx="10515600" cy="4486275"/>
          </a:xfrm>
        </p:spPr>
        <p:txBody>
          <a:bodyPr>
            <a:normAutofit/>
          </a:bodyPr>
          <a:lstStyle/>
          <a:p>
            <a:r>
              <a:rPr lang="en-US" sz="2000" dirty="0" smtClean="0"/>
              <a:t>Table accesses to be given to the required user according to their role</a:t>
            </a:r>
          </a:p>
          <a:p>
            <a:r>
              <a:rPr lang="en-US" sz="2000" dirty="0" smtClean="0"/>
              <a:t>The design was using fixed schema binding at that point of time, schema evolution can also be supported if required for landing table load</a:t>
            </a:r>
          </a:p>
          <a:p>
            <a:r>
              <a:rPr lang="en-US" sz="2000" dirty="0" smtClean="0"/>
              <a:t>Data retention has been designed to be handled automatically by implementing automated partition expiry at </a:t>
            </a:r>
            <a:r>
              <a:rPr lang="en-US" sz="2000" dirty="0" err="1" smtClean="0"/>
              <a:t>BigQuery</a:t>
            </a:r>
            <a:r>
              <a:rPr lang="en-US" sz="2000" dirty="0" smtClean="0"/>
              <a:t> table definition.</a:t>
            </a:r>
          </a:p>
          <a:p>
            <a:pPr lvl="1"/>
            <a:r>
              <a:rPr lang="en-US" sz="1800" dirty="0" smtClean="0"/>
              <a:t>Data retention in landing table: 10 Day</a:t>
            </a:r>
          </a:p>
          <a:p>
            <a:pPr lvl="1"/>
            <a:r>
              <a:rPr lang="en-US" sz="1800" dirty="0" smtClean="0"/>
              <a:t>Data retention in final table: 30 day</a:t>
            </a:r>
          </a:p>
          <a:p>
            <a:r>
              <a:rPr lang="en-US" sz="2200" dirty="0" smtClean="0"/>
              <a:t>Secret to call Exchange rate API has been imported into Secret Manager in Google Cloud and accessed from there in the code instead of hard coding</a:t>
            </a:r>
          </a:p>
          <a:p>
            <a:r>
              <a:rPr lang="en-US" sz="2200" dirty="0" smtClean="0"/>
              <a:t>Used configuration file for all the parameters used in the code, making it flexible for any change in parameter in future or releasing to higher instances</a:t>
            </a:r>
          </a:p>
          <a:p>
            <a:endParaRPr lang="en-US" sz="2200" dirty="0" smtClean="0"/>
          </a:p>
          <a:p>
            <a:endParaRPr lang="en-GB" sz="2000" dirty="0"/>
          </a:p>
          <a:p>
            <a:endParaRPr lang="en-GB" sz="2000" dirty="0"/>
          </a:p>
          <a:p>
            <a:endParaRPr lang="en-GB" sz="2000" dirty="0"/>
          </a:p>
          <a:p>
            <a:endParaRPr lang="en-GB" sz="2000" dirty="0"/>
          </a:p>
        </p:txBody>
      </p:sp>
    </p:spTree>
    <p:extLst>
      <p:ext uri="{BB962C8B-B14F-4D97-AF65-F5344CB8AC3E}">
        <p14:creationId xmlns:p14="http://schemas.microsoft.com/office/powerpoint/2010/main" val="2364334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200" b="1" dirty="0" smtClean="0"/>
              <a:t>Data Lineage</a:t>
            </a:r>
            <a:endParaRPr lang="en-GB" sz="3200" dirty="0"/>
          </a:p>
        </p:txBody>
      </p:sp>
      <p:sp>
        <p:nvSpPr>
          <p:cNvPr id="3" name="Content Placeholder 2"/>
          <p:cNvSpPr>
            <a:spLocks noGrp="1"/>
          </p:cNvSpPr>
          <p:nvPr>
            <p:ph idx="1"/>
          </p:nvPr>
        </p:nvSpPr>
        <p:spPr>
          <a:xfrm>
            <a:off x="950167" y="1448092"/>
            <a:ext cx="10515600" cy="4486275"/>
          </a:xfrm>
        </p:spPr>
        <p:txBody>
          <a:bodyPr>
            <a:normAutofit/>
          </a:bodyPr>
          <a:lstStyle/>
          <a:p>
            <a:r>
              <a:rPr lang="en-US" sz="2000" dirty="0" smtClean="0"/>
              <a:t>Below are the data entities captured</a:t>
            </a:r>
          </a:p>
          <a:p>
            <a:pPr lvl="1"/>
            <a:r>
              <a:rPr lang="en-US" sz="1800" dirty="0" smtClean="0"/>
              <a:t>Landing Layer</a:t>
            </a:r>
          </a:p>
          <a:p>
            <a:pPr lvl="2"/>
            <a:r>
              <a:rPr lang="en-US" sz="1600" dirty="0" smtClean="0"/>
              <a:t>Unique record id</a:t>
            </a:r>
          </a:p>
          <a:p>
            <a:pPr lvl="2"/>
            <a:r>
              <a:rPr lang="en-US" sz="1600" dirty="0" smtClean="0"/>
              <a:t>Unique job id for the complete flow</a:t>
            </a:r>
          </a:p>
          <a:p>
            <a:pPr lvl="2"/>
            <a:r>
              <a:rPr lang="en-US" sz="1600" dirty="0" smtClean="0"/>
              <a:t>Name of the source the data is coming from</a:t>
            </a:r>
          </a:p>
          <a:p>
            <a:pPr lvl="2"/>
            <a:r>
              <a:rPr lang="en-US" sz="1600" dirty="0" smtClean="0"/>
              <a:t>Job run timestamp</a:t>
            </a:r>
          </a:p>
          <a:p>
            <a:pPr lvl="2"/>
            <a:r>
              <a:rPr lang="en-US" sz="1600" dirty="0" smtClean="0"/>
              <a:t>Rate date</a:t>
            </a:r>
          </a:p>
          <a:p>
            <a:pPr lvl="2"/>
            <a:r>
              <a:rPr lang="en-US" sz="1600" dirty="0" smtClean="0"/>
              <a:t>Raw Payload and hashed value of the payload for future reference</a:t>
            </a:r>
          </a:p>
          <a:p>
            <a:pPr lvl="2"/>
            <a:endParaRPr lang="en-US" sz="1600" dirty="0"/>
          </a:p>
          <a:p>
            <a:pPr lvl="1"/>
            <a:r>
              <a:rPr lang="en-US" sz="2000" dirty="0" smtClean="0"/>
              <a:t>Final Layer</a:t>
            </a:r>
          </a:p>
          <a:p>
            <a:pPr lvl="2"/>
            <a:r>
              <a:rPr lang="en-US" sz="1600" dirty="0" smtClean="0"/>
              <a:t>Unique job id for the complete flow</a:t>
            </a:r>
          </a:p>
          <a:p>
            <a:pPr lvl="2"/>
            <a:r>
              <a:rPr lang="en-US" sz="1600" dirty="0" smtClean="0"/>
              <a:t>Specifying the column names suggesting the source the data is coming from</a:t>
            </a:r>
          </a:p>
          <a:p>
            <a:pPr lvl="2"/>
            <a:r>
              <a:rPr lang="en-US" sz="1600" dirty="0" smtClean="0"/>
              <a:t>Initial data load timestamp</a:t>
            </a:r>
          </a:p>
          <a:p>
            <a:pPr lvl="2"/>
            <a:r>
              <a:rPr lang="en-US" sz="1600" dirty="0" smtClean="0"/>
              <a:t>Update timestamp(if updated)</a:t>
            </a:r>
          </a:p>
          <a:p>
            <a:pPr lvl="2"/>
            <a:r>
              <a:rPr lang="en-US" sz="1600" dirty="0" smtClean="0"/>
              <a:t>Rate date</a:t>
            </a:r>
          </a:p>
          <a:p>
            <a:pPr lvl="2"/>
            <a:endParaRPr lang="en-US" sz="1600" dirty="0" smtClean="0"/>
          </a:p>
          <a:p>
            <a:pPr lvl="2"/>
            <a:endParaRPr lang="en-GB" sz="1600" dirty="0"/>
          </a:p>
          <a:p>
            <a:endParaRPr lang="en-GB" sz="2000" dirty="0"/>
          </a:p>
          <a:p>
            <a:endParaRPr lang="en-GB" sz="2000" dirty="0"/>
          </a:p>
          <a:p>
            <a:endParaRPr lang="en-GB" sz="2000" dirty="0"/>
          </a:p>
        </p:txBody>
      </p:sp>
    </p:spTree>
    <p:extLst>
      <p:ext uri="{BB962C8B-B14F-4D97-AF65-F5344CB8AC3E}">
        <p14:creationId xmlns:p14="http://schemas.microsoft.com/office/powerpoint/2010/main" val="2490266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200" b="1" dirty="0" smtClean="0"/>
              <a:t>Data Quality Checks</a:t>
            </a:r>
            <a:endParaRPr lang="en-GB" sz="3200" dirty="0"/>
          </a:p>
        </p:txBody>
      </p:sp>
      <p:sp>
        <p:nvSpPr>
          <p:cNvPr id="3" name="Content Placeholder 2"/>
          <p:cNvSpPr>
            <a:spLocks noGrp="1"/>
          </p:cNvSpPr>
          <p:nvPr>
            <p:ph idx="1"/>
          </p:nvPr>
        </p:nvSpPr>
        <p:spPr>
          <a:xfrm>
            <a:off x="950167" y="1448092"/>
            <a:ext cx="10515600" cy="4486275"/>
          </a:xfrm>
        </p:spPr>
        <p:txBody>
          <a:bodyPr>
            <a:normAutofit/>
          </a:bodyPr>
          <a:lstStyle/>
          <a:p>
            <a:r>
              <a:rPr lang="en-US" sz="2000" dirty="0" smtClean="0"/>
              <a:t>Below are the data quality checks performed in the code</a:t>
            </a:r>
          </a:p>
          <a:p>
            <a:pPr lvl="1"/>
            <a:r>
              <a:rPr lang="en-US" sz="1800" dirty="0" smtClean="0"/>
              <a:t>Check if no records received </a:t>
            </a:r>
          </a:p>
          <a:p>
            <a:pPr lvl="1"/>
            <a:r>
              <a:rPr lang="en-US" sz="1800" dirty="0" smtClean="0"/>
              <a:t>Check for null values in columns</a:t>
            </a:r>
          </a:p>
          <a:p>
            <a:pPr lvl="1"/>
            <a:r>
              <a:rPr lang="en-US" sz="1800" dirty="0" smtClean="0"/>
              <a:t>Check if the currency columns are of proper format(a string of 3 capital case letters)</a:t>
            </a:r>
          </a:p>
          <a:p>
            <a:pPr lvl="1"/>
            <a:r>
              <a:rPr lang="en-US" sz="1800" dirty="0" smtClean="0"/>
              <a:t>Check if the rate is a number and not a negative value</a:t>
            </a:r>
          </a:p>
          <a:p>
            <a:pPr lvl="1"/>
            <a:r>
              <a:rPr lang="en-US" sz="1800" dirty="0" smtClean="0"/>
              <a:t>Check for duplicate records</a:t>
            </a:r>
          </a:p>
          <a:p>
            <a:r>
              <a:rPr lang="en-US" sz="2000" dirty="0" smtClean="0"/>
              <a:t>Currently the code is built in such a way to delete all the records which are not passing the validations and for duplicates considering a single record</a:t>
            </a:r>
          </a:p>
          <a:p>
            <a:r>
              <a:rPr lang="en-US" sz="2000" dirty="0" smtClean="0"/>
              <a:t>Further modification can be done </a:t>
            </a:r>
          </a:p>
          <a:p>
            <a:pPr lvl="1"/>
            <a:r>
              <a:rPr lang="en-US" sz="1800" dirty="0"/>
              <a:t>t</a:t>
            </a:r>
            <a:r>
              <a:rPr lang="en-US" sz="1800" dirty="0" smtClean="0"/>
              <a:t>o handle null differently by implementing some logic to populate them</a:t>
            </a:r>
          </a:p>
          <a:p>
            <a:pPr lvl="1"/>
            <a:r>
              <a:rPr lang="en-US" sz="1800" dirty="0" smtClean="0"/>
              <a:t>to write the error records into a error table instead of deleting them for future reference or to notify the source team </a:t>
            </a:r>
          </a:p>
          <a:p>
            <a:endParaRPr lang="en-US" sz="2000" dirty="0" smtClean="0"/>
          </a:p>
          <a:p>
            <a:pPr lvl="2"/>
            <a:endParaRPr lang="en-GB" sz="1600" dirty="0"/>
          </a:p>
          <a:p>
            <a:endParaRPr lang="en-GB" sz="2000" dirty="0"/>
          </a:p>
          <a:p>
            <a:endParaRPr lang="en-GB" sz="2000" dirty="0"/>
          </a:p>
          <a:p>
            <a:endParaRPr lang="en-GB" sz="2000" dirty="0"/>
          </a:p>
        </p:txBody>
      </p:sp>
    </p:spTree>
    <p:extLst>
      <p:ext uri="{BB962C8B-B14F-4D97-AF65-F5344CB8AC3E}">
        <p14:creationId xmlns:p14="http://schemas.microsoft.com/office/powerpoint/2010/main" val="4134301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200" b="1" dirty="0" smtClean="0"/>
              <a:t>Use Cases</a:t>
            </a:r>
            <a:endParaRPr lang="en-GB" sz="3200" dirty="0"/>
          </a:p>
        </p:txBody>
      </p:sp>
      <p:sp>
        <p:nvSpPr>
          <p:cNvPr id="3" name="Content Placeholder 2"/>
          <p:cNvSpPr>
            <a:spLocks noGrp="1"/>
          </p:cNvSpPr>
          <p:nvPr>
            <p:ph idx="1"/>
          </p:nvPr>
        </p:nvSpPr>
        <p:spPr>
          <a:xfrm>
            <a:off x="950167" y="1448092"/>
            <a:ext cx="10515600" cy="4486275"/>
          </a:xfrm>
        </p:spPr>
        <p:txBody>
          <a:bodyPr>
            <a:normAutofit/>
          </a:bodyPr>
          <a:lstStyle/>
          <a:p>
            <a:r>
              <a:rPr lang="en-US" sz="2000" dirty="0" smtClean="0"/>
              <a:t>Below can be potential use cases of the data</a:t>
            </a:r>
          </a:p>
          <a:p>
            <a:pPr lvl="1"/>
            <a:r>
              <a:rPr lang="en-US" sz="1800" dirty="0" smtClean="0"/>
              <a:t>Fetch exchange </a:t>
            </a:r>
            <a:r>
              <a:rPr lang="en-US" sz="1800" dirty="0"/>
              <a:t>rate for any source and target </a:t>
            </a:r>
            <a:r>
              <a:rPr lang="en-US" sz="1800" dirty="0" smtClean="0"/>
              <a:t>currency</a:t>
            </a:r>
          </a:p>
          <a:p>
            <a:pPr marL="457200" lvl="1" indent="0">
              <a:buNone/>
            </a:pPr>
            <a:r>
              <a:rPr lang="en-US" sz="1800" dirty="0" smtClean="0"/>
              <a:t>	</a:t>
            </a:r>
            <a:r>
              <a:rPr lang="en-US" sz="1600" dirty="0" smtClean="0"/>
              <a:t>Created one table level function to accept the source and target currency and it will fetch the exchange 	rates for the given combination with the latest data from both the API sources</a:t>
            </a:r>
          </a:p>
          <a:p>
            <a:pPr lvl="1"/>
            <a:endParaRPr lang="en-US" sz="1400" dirty="0"/>
          </a:p>
          <a:p>
            <a:pPr lvl="1"/>
            <a:r>
              <a:rPr lang="en-US" sz="1800" dirty="0"/>
              <a:t>Convert the currency from any source currency to any target </a:t>
            </a:r>
            <a:r>
              <a:rPr lang="en-US" sz="1800" dirty="0" smtClean="0"/>
              <a:t>currency</a:t>
            </a:r>
          </a:p>
          <a:p>
            <a:pPr marL="914400" lvl="2" indent="0">
              <a:buNone/>
            </a:pPr>
            <a:r>
              <a:rPr lang="en-US" sz="1600" dirty="0"/>
              <a:t>Created another </a:t>
            </a:r>
            <a:r>
              <a:rPr lang="en-US" sz="1600" dirty="0" err="1"/>
              <a:t>Bigquery</a:t>
            </a:r>
            <a:r>
              <a:rPr lang="en-US" sz="1600" dirty="0"/>
              <a:t> function to accept source and target currency, preferred API source and amount and will receive the converted </a:t>
            </a:r>
            <a:r>
              <a:rPr lang="en-US" sz="1600" dirty="0" smtClean="0"/>
              <a:t>amount</a:t>
            </a:r>
          </a:p>
          <a:p>
            <a:pPr marL="914400" lvl="2" indent="0">
              <a:buNone/>
            </a:pPr>
            <a:endParaRPr lang="en-US" sz="1600" dirty="0"/>
          </a:p>
          <a:p>
            <a:pPr lvl="1"/>
            <a:r>
              <a:rPr lang="en-US" sz="1800" dirty="0" smtClean="0"/>
              <a:t>Historical </a:t>
            </a:r>
            <a:r>
              <a:rPr lang="en-US" sz="1800" dirty="0"/>
              <a:t>data for </a:t>
            </a:r>
            <a:r>
              <a:rPr lang="en-US" sz="1800" dirty="0" smtClean="0"/>
              <a:t>any currency combination for 90 days(or any date range) </a:t>
            </a:r>
          </a:p>
          <a:p>
            <a:pPr marL="457200" lvl="1" indent="0">
              <a:buNone/>
            </a:pPr>
            <a:endParaRPr lang="en-US" sz="1800" dirty="0" smtClean="0"/>
          </a:p>
          <a:p>
            <a:r>
              <a:rPr lang="en-US" sz="2000" dirty="0" smtClean="0"/>
              <a:t>All the queries and function codes and sample function invocation code is provided in the </a:t>
            </a:r>
            <a:r>
              <a:rPr lang="en-US" sz="2000" dirty="0" err="1" smtClean="0"/>
              <a:t>query.sql</a:t>
            </a:r>
            <a:r>
              <a:rPr lang="en-US" sz="2000" dirty="0" smtClean="0"/>
              <a:t> file</a:t>
            </a:r>
            <a:endParaRPr lang="en-US" sz="2000" dirty="0"/>
          </a:p>
          <a:p>
            <a:endParaRPr lang="en-GB" sz="2000" dirty="0"/>
          </a:p>
          <a:p>
            <a:endParaRPr lang="en-GB" sz="2000" dirty="0"/>
          </a:p>
          <a:p>
            <a:endParaRPr lang="en-GB" sz="2000" dirty="0"/>
          </a:p>
        </p:txBody>
      </p:sp>
    </p:spTree>
    <p:extLst>
      <p:ext uri="{BB962C8B-B14F-4D97-AF65-F5344CB8AC3E}">
        <p14:creationId xmlns:p14="http://schemas.microsoft.com/office/powerpoint/2010/main" val="1465922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Thank You</a:t>
            </a:r>
          </a:p>
        </p:txBody>
      </p:sp>
    </p:spTree>
    <p:extLst>
      <p:ext uri="{BB962C8B-B14F-4D97-AF65-F5344CB8AC3E}">
        <p14:creationId xmlns:p14="http://schemas.microsoft.com/office/powerpoint/2010/main" val="3824077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587</Words>
  <Application>Microsoft Office PowerPoint</Application>
  <PresentationFormat>Widescreen</PresentationFormat>
  <Paragraphs>81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Exchange Rate Data Pipeline</vt:lpstr>
      <vt:lpstr>High Level Design Approach</vt:lpstr>
      <vt:lpstr>Data Model and Transformation</vt:lpstr>
      <vt:lpstr>Data Governance and Retention</vt:lpstr>
      <vt:lpstr>Data Lineage</vt:lpstr>
      <vt:lpstr>Data Quality Checks</vt:lpstr>
      <vt:lpstr>Use Cases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to build an Exchange rate data pipeline from Exchange rates public API and European Central Bank API</dc:title>
  <dc:creator>Sudip Bandopadhyay</dc:creator>
  <cp:lastModifiedBy>Sudip Bandopadhyay</cp:lastModifiedBy>
  <cp:revision>17</cp:revision>
  <dcterms:created xsi:type="dcterms:W3CDTF">2025-09-17T10:26:36Z</dcterms:created>
  <dcterms:modified xsi:type="dcterms:W3CDTF">2025-09-17T11:45:04Z</dcterms:modified>
</cp:coreProperties>
</file>